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731520"/>
            <a:ext cx="914400" cy="9144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07040" y="1371600"/>
            <a:ext cx="502920" cy="50292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09760" y="1828800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9D8F"/>
                </a:solidFill>
                <a:latin typeface="Aptos"/>
              </a:rPr>
              <a:t>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9326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D3557"/>
                </a:solidFill>
                <a:latin typeface="Aptos"/>
              </a:rPr>
              <a:t>Bank Customer Credit
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C3E50"/>
                </a:solidFill>
                <a:latin typeface="Aptos"/>
              </a:rPr>
              <a:t>Question 1: Practical Significance, Dataset &amp; Literature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A9D8F"/>
                </a:solidFill>
                <a:latin typeface="Aptos"/>
              </a:rPr>
              <a:t>Algorithm focus: Naïve Bayes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A78"/>
                </a:solidFill>
                <a:latin typeface="Aptos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09CB1B-0FA2-792A-71BC-A9AF90F8EB67}"/>
              </a:ext>
            </a:extLst>
          </p:cNvPr>
          <p:cNvSpPr txBox="1"/>
          <p:nvPr/>
        </p:nvSpPr>
        <p:spPr>
          <a:xfrm>
            <a:off x="7354529" y="4149213"/>
            <a:ext cx="4090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 : Sanjay S</a:t>
            </a:r>
          </a:p>
          <a:p>
            <a:r>
              <a:rPr lang="en-US" dirty="0"/>
              <a:t>Reg No : 192521058</a:t>
            </a:r>
          </a:p>
          <a:p>
            <a:r>
              <a:rPr lang="en-US" dirty="0"/>
              <a:t>Course Name : Machine Learning</a:t>
            </a:r>
          </a:p>
          <a:p>
            <a:r>
              <a:rPr lang="en-US" dirty="0"/>
              <a:t>Course Code : ITA0603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D3557"/>
                </a:solidFill>
                <a:latin typeface="Aptos"/>
              </a:rPr>
              <a:t>1. Practical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8"/>
                </a:solidFill>
                <a:latin typeface="Aptos"/>
              </a:rPr>
              <a:t>Why is credit risk prediction important?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A78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82296" cy="1874519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673351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3557"/>
                </a:solidFill>
                <a:latin typeface="Aptos"/>
              </a:rPr>
              <a:t>Real-world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03120"/>
            <a:ext cx="3136392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Aptos"/>
              </a:rPr>
              <a:t>Banks must estimate whether a borrower can repay a loan. Poor decisions can increase defaults and financial losses.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82296" cy="1874519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673351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3557"/>
                </a:solidFill>
                <a:latin typeface="Aptos"/>
              </a:rPr>
              <a:t>Proposed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03120"/>
            <a:ext cx="3136392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Aptos"/>
              </a:rPr>
              <a:t>Use customer information and past repayment patterns to classify applicants as lower-risk or higher-risk.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82296" cy="1874519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673351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3557"/>
                </a:solidFill>
                <a:latin typeface="Aptos"/>
              </a:rPr>
              <a:t>Expected benefits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03120"/>
            <a:ext cx="3136392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Aptos"/>
              </a:rPr>
              <a:t>Support faster, more consistent decisions; help prioritize manual review; and improve risk monitoring.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9D8F"/>
                </a:solidFill>
                <a:latin typeface="Aptos"/>
              </a:rPr>
              <a:t>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34840"/>
            <a:ext cx="1645920" cy="731520"/>
          </a:xfrm>
          <a:prstGeom prst="roundRect">
            <a:avLst/>
          </a:prstGeom>
          <a:solidFill>
            <a:srgbClr val="E0F7F1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3557"/>
                </a:solidFill>
                <a:latin typeface="Aptos"/>
              </a:rPr>
              <a:t>Customer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4434840"/>
            <a:ext cx="1645920" cy="731520"/>
          </a:xfrm>
          <a:prstGeom prst="roundRect">
            <a:avLst/>
          </a:prstGeom>
          <a:solidFill>
            <a:srgbClr val="E0F7F1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3557"/>
                </a:solidFill>
                <a:latin typeface="Aptos"/>
              </a:rPr>
              <a:t>Preprocessing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4434840"/>
            <a:ext cx="1645920" cy="731520"/>
          </a:xfrm>
          <a:prstGeom prst="roundRect">
            <a:avLst/>
          </a:prstGeom>
          <a:solidFill>
            <a:srgbClr val="E0F7F1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3557"/>
                </a:solidFill>
                <a:latin typeface="Aptos"/>
              </a:rPr>
              <a:t>Naïve Bayes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4434840"/>
            <a:ext cx="1645920" cy="731520"/>
          </a:xfrm>
          <a:prstGeom prst="roundRect">
            <a:avLst/>
          </a:prstGeom>
          <a:solidFill>
            <a:srgbClr val="FFEFE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3557"/>
                </a:solidFill>
                <a:latin typeface="Aptos"/>
              </a:rPr>
              <a:t>Risk category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4434840"/>
            <a:ext cx="1645920" cy="731520"/>
          </a:xfrm>
          <a:prstGeom prst="roundRect">
            <a:avLst/>
          </a:prstGeom>
          <a:solidFill>
            <a:srgbClr val="E0F7F1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3557"/>
                </a:solidFill>
                <a:latin typeface="Aptos"/>
              </a:rPr>
              <a:t>Human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6177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76F51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6177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76F51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6177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76F51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46177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76F51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692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A6A78"/>
                </a:solidFill>
                <a:latin typeface="Aptos"/>
              </a:rPr>
              <a:t>Important: predictions should support—not replace—fair lending rules and human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D3557"/>
                </a:solidFill>
                <a:latin typeface="Aptos"/>
              </a:rPr>
              <a:t>2. Dataset and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8"/>
                </a:solidFill>
                <a:latin typeface="Aptos"/>
              </a:rPr>
              <a:t>Use relevant, representative, and responsibly handled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A78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82296" cy="1828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81912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3557"/>
                </a:solidFill>
                <a:latin typeface="Aptos"/>
              </a:rPr>
              <a:t>Possible dataset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11680"/>
            <a:ext cx="49194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Aptos"/>
              </a:rPr>
              <a:t>• Public credit-risk / loan-default datasets
• Historical, anonymized loan application records (with authorization)
• A suitable example: UCI German Credit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82296" cy="18288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581912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3557"/>
                </a:solidFill>
                <a:latin typeface="Aptos"/>
              </a:rPr>
              <a:t>Useful input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11680"/>
            <a:ext cx="49194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Aptos"/>
              </a:rPr>
              <a:t>• Income and employment duration
• Loan amount and repayment history
• Credit history / existing debt
• Target label: good/poor credit or low/high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3557"/>
                </a:solidFill>
                <a:latin typeface="Aptos"/>
              </a:rPr>
              <a:t>DATA QUALITY CHECKLIST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Aptos"/>
              </a:rPr>
              <a:t>✓  Missing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416052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Aptos"/>
              </a:rPr>
              <a:t>Identify and handle incomplete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Aptos"/>
              </a:rPr>
              <a:t>✓  Duplicates &amp; errors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636008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Aptos"/>
              </a:rPr>
              <a:t>Remove duplicates and correct invalid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1149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Aptos"/>
              </a:rPr>
              <a:t>✓  Class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5111496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Aptos"/>
              </a:rPr>
              <a:t>Check whether high-risk cases are underrepresented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86983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Aptos"/>
              </a:rPr>
              <a:t>✓  Privacy &amp; fairness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5586983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Aptos"/>
              </a:rPr>
              <a:t>Protect personal data; inspect potential bias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7220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8"/>
                </a:solidFill>
                <a:latin typeface="Aptos"/>
              </a:rPr>
              <a:t>Dataset note: document the source, number of records, features, target label, and licensing before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D3557"/>
                </a:solidFill>
                <a:latin typeface="Aptos"/>
              </a:rPr>
              <a:t>3.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8"/>
                </a:solidFill>
                <a:latin typeface="Aptos"/>
              </a:rPr>
              <a:t>What existing research suggests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A78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82296" cy="19202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8191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3557"/>
                </a:solidFill>
                <a:latin typeface="Aptos"/>
              </a:rPr>
              <a:t>Naïve Bayes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11680"/>
            <a:ext cx="3136392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Aptos"/>
              </a:rPr>
              <a:t>A probabilistic baseline that is fast and easy to interpret. It assumes features are conditionally independent given the class.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82296" cy="19202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58191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3557"/>
                </a:solidFill>
                <a:latin typeface="Aptos"/>
              </a:rPr>
              <a:t>Decision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011680"/>
            <a:ext cx="3136392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Aptos"/>
              </a:rPr>
              <a:t>Learns rule-like splits and is easy to explain, but a deep tree can overfit without pruning or depth limits.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82296" cy="192024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58191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3557"/>
                </a:solidFill>
                <a:latin typeface="Aptos"/>
              </a:rP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11680"/>
            <a:ext cx="3136392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Aptos"/>
              </a:rPr>
              <a:t>Combines many trees and often improves stability, though its decisions may be less transparent than a single tree.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4903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3557"/>
                </a:solidFill>
                <a:latin typeface="Aptos"/>
              </a:rPr>
              <a:t>Literature-review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24528"/>
            <a:ext cx="10332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Aptos"/>
              </a:rPr>
              <a:t>Review recent peer-reviewed studies on credit scoring and default prediction. Record each study’s dataset, features, algorithm, evaluation metrics, strengths, and limitations. Compare models on the same split or cross-validation setup for a fair comparison.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Aptos"/>
              </a:rPr>
              <a:t>Search terms: “credit risk prediction machine learning”, “credit scoring Naïve Bayes”, “loan default prediction Random Forest”.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D3557"/>
                </a:solidFill>
                <a:latin typeface="Aptos"/>
              </a:rPr>
              <a:t>4. Research Gap and Proposed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8"/>
                </a:solidFill>
                <a:latin typeface="Aptos"/>
              </a:rPr>
              <a:t>How this project adds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A78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035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82296" cy="19659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627632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3557"/>
                </a:solidFill>
                <a:latin typeface="Aptos"/>
              </a:rPr>
              <a:t>Common gaps to investigate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57400"/>
            <a:ext cx="4919472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Aptos"/>
              </a:rPr>
              <a:t>• Results may not transfer across banks or populations
• Class imbalance can hide poor detection of high-risk cases
• Some models are difficult to explain
• Data quality and fairness checks may be limited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82296" cy="19659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627632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3557"/>
                </a:solidFill>
                <a:latin typeface="Aptos"/>
              </a:rPr>
              <a:t>Proposed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57400"/>
            <a:ext cx="4919472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Aptos"/>
              </a:rPr>
              <a:t>1. Clean and encode data
2. Split data into train/test sets
3. Train Naïve Bayes as the baseline
4. Compare with Decision Tree / Random Forest
5. Evaluate using cross-validation and risk-sensitive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3557"/>
                </a:solidFill>
                <a:latin typeface="Aptos"/>
              </a:rPr>
              <a:t>Evaluation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8056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480560"/>
            <a:ext cx="82296" cy="1143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64515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3557"/>
                </a:solidFill>
                <a:latin typeface="Aptos"/>
              </a:rPr>
              <a:t>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074920"/>
            <a:ext cx="222199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Aptos"/>
              </a:rPr>
              <a:t>Overall correct predictions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448056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66160" y="4480560"/>
            <a:ext cx="82296" cy="11430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67328" y="464515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3557"/>
                </a:solidFill>
                <a:latin typeface="Aptos"/>
              </a:rPr>
              <a:t>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67328" y="5074920"/>
            <a:ext cx="222199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Aptos"/>
              </a:rPr>
              <a:t>Reliability of high-risk flags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48056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4480560"/>
            <a:ext cx="82296" cy="1143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464515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3557"/>
                </a:solidFill>
                <a:latin typeface="Aptos"/>
              </a:rPr>
              <a:t>Recall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5074920"/>
            <a:ext cx="222199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Aptos"/>
              </a:rPr>
              <a:t>How many high-risk cases are detected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448056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235440" y="4480560"/>
            <a:ext cx="82296" cy="1143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36608" y="464515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3557"/>
                </a:solidFill>
                <a:latin typeface="Aptos"/>
              </a:rPr>
              <a:t>F1-score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36608" y="5074920"/>
            <a:ext cx="222199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Aptos"/>
              </a:rPr>
              <a:t>Balance of precision and recall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9436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Aptos"/>
              </a:rPr>
              <a:t>Do not claim the proposed model is better until measured results support that conclusion.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D3557"/>
                </a:solidFill>
                <a:latin typeface="Aptos"/>
              </a:rPr>
              <a:t>5. Conclusion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8"/>
                </a:solidFill>
                <a:latin typeface="Aptos"/>
              </a:rPr>
              <a:t>Summary of Question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A78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82296" cy="1828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819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3557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11680"/>
            <a:ext cx="482803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Aptos"/>
              </a:rPr>
              <a:t>Credit risk prediction can help banks assess repayment risk more consistently. A reliable study needs a suitable dataset, careful preprocessing, fair model comparison, and attention to privacy and bias.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417320"/>
            <a:ext cx="5440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80760" y="1417320"/>
            <a:ext cx="82296" cy="18288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81928" y="158191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3557"/>
                </a:solidFill>
                <a:latin typeface="Aptos"/>
              </a:rPr>
              <a:t>Expected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011680"/>
            <a:ext cx="505663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Aptos"/>
              </a:rPr>
              <a:t>A simple, explainable baseline; a reproducible comparison with other classifiers; and evaluation that pays special attention to identifying high-risk borrowers.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3557"/>
                </a:solidFill>
                <a:latin typeface="Aptos"/>
              </a:rPr>
              <a:t>Starter references / sources to verify and cite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10378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ptos"/>
              </a:rPr>
              <a:t>1. Dua, D. and Graff, C. (2019). UCI Machine Learning Repository. University of California, Irvine. (Dataset repository; verify dataset-specific citation.)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99431"/>
            <a:ext cx="10378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ptos"/>
              </a:rPr>
              <a:t>2. Hand, D. J. and Henley, W. E. (1997). Statistical classification methods in consumer credit scoring: a review. Journal of the Royal Statistical Society: Series A, 160(3), 523–541.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38344"/>
            <a:ext cx="10378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ptos"/>
              </a:rPr>
              <a:t>3. Lessmann, S., Baesens, B., Seow, H.-V., and Thomas, L. C. (2015). Benchmarking state-of-the-art classification algorithms for credit scoring: An update of research. European Journal of Operational Research, 247(1), 124–136.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77256"/>
            <a:ext cx="10378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ptos"/>
              </a:rPr>
              <a:t>4. Add at least 2 recent (2021–2026) peer-reviewed papers found through Google Scholar / your library, and verify title, year, journal, and DOI before submission.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19963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9D8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809</Words>
  <Application>Microsoft Office PowerPoint</Application>
  <PresentationFormat>Widescreen</PresentationFormat>
  <Paragraphs>88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 .</cp:lastModifiedBy>
  <cp:revision>2</cp:revision>
  <dcterms:created xsi:type="dcterms:W3CDTF">2013-01-27T09:14:16Z</dcterms:created>
  <dcterms:modified xsi:type="dcterms:W3CDTF">2026-10-09T04:25:35Z</dcterms:modified>
  <cp:category/>
</cp:coreProperties>
</file>